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43800" y="502920"/>
            <a:ext cx="4069080" cy="580644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8001000" y="1508760"/>
            <a:ext cx="1280160" cy="640080"/>
          </a:xfrm>
          <a:prstGeom prst="line">
            <a:avLst/>
          </a:prstGeom>
          <a:ln w="30480">
            <a:solidFill>
              <a:srgbClr val="C1F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9281160" y="1508760"/>
            <a:ext cx="1371600" cy="640080"/>
          </a:xfrm>
          <a:prstGeom prst="line">
            <a:avLst/>
          </a:prstGeom>
          <a:ln w="30480">
            <a:solidFill>
              <a:srgbClr val="50D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281160" y="2148840"/>
            <a:ext cx="685800" cy="1280160"/>
          </a:xfrm>
          <a:prstGeom prst="line">
            <a:avLst/>
          </a:prstGeom>
          <a:ln w="30480">
            <a:solidFill>
              <a:srgbClr val="FFB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66960" y="3429000"/>
            <a:ext cx="1051560" cy="914400"/>
          </a:xfrm>
          <a:prstGeom prst="line">
            <a:avLst/>
          </a:prstGeom>
          <a:ln w="30480">
            <a:solidFill>
              <a:srgbClr val="C1F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01000" y="1508760"/>
            <a:ext cx="365760" cy="2148840"/>
          </a:xfrm>
          <a:prstGeom prst="line">
            <a:avLst/>
          </a:prstGeom>
          <a:ln w="30480">
            <a:solidFill>
              <a:srgbClr val="50D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366760" y="3429000"/>
            <a:ext cx="1600200" cy="228600"/>
          </a:xfrm>
          <a:prstGeom prst="line">
            <a:avLst/>
          </a:prstGeom>
          <a:ln w="30480">
            <a:solidFill>
              <a:srgbClr val="FFB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966960" y="3429000"/>
            <a:ext cx="914400" cy="1874520"/>
          </a:xfrm>
          <a:prstGeom prst="line">
            <a:avLst/>
          </a:prstGeom>
          <a:ln w="30480">
            <a:solidFill>
              <a:srgbClr val="50D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918704" y="1426463"/>
            <a:ext cx="164592" cy="164592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98864" y="2066544"/>
            <a:ext cx="164592" cy="164592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70464" y="1426463"/>
            <a:ext cx="164592" cy="164592"/>
          </a:xfrm>
          <a:prstGeom prst="ellipse">
            <a:avLst/>
          </a:prstGeom>
          <a:solidFill>
            <a:srgbClr val="FFB464"/>
          </a:solidFill>
          <a:ln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884664" y="3346704"/>
            <a:ext cx="164592" cy="164592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84464" y="3575304"/>
            <a:ext cx="164592" cy="164592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36224" y="4261104"/>
            <a:ext cx="164592" cy="164592"/>
          </a:xfrm>
          <a:prstGeom prst="ellipse">
            <a:avLst/>
          </a:prstGeom>
          <a:solidFill>
            <a:srgbClr val="FFB464"/>
          </a:solidFill>
          <a:ln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799064" y="5221224"/>
            <a:ext cx="164592" cy="164592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658368"/>
            <a:ext cx="5486400" cy="274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1F569"/>
                </a:solidFill>
                <a:latin typeface="Aptos"/>
              </a:rPr>
              <a:t>HACKATHON PROJECT  •  AI + MOBILITY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1417320"/>
            <a:ext cx="6400800" cy="1417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F4F7EF"/>
                </a:solidFill>
                <a:latin typeface="Aptos"/>
              </a:rPr>
              <a:t>AI School Bus
Route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090672"/>
            <a:ext cx="6126480" cy="7315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50D2AF"/>
                </a:solidFill>
                <a:latin typeface="Aptos"/>
              </a:rPr>
              <a:t>Build safer routes.
In fewer clicks.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160520"/>
            <a:ext cx="6126480" cy="5029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ABEB4"/>
                </a:solidFill>
                <a:latin typeface="Aptos"/>
              </a:rPr>
              <a:t>RouteWise AI — School Transport Command Center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074920"/>
            <a:ext cx="3017520" cy="502920"/>
          </a:xfrm>
          <a:prstGeom prst="roundRect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175504"/>
            <a:ext cx="274320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B1819"/>
                </a:solidFill>
                <a:latin typeface="Aptos"/>
              </a:rPr>
              <a:t>TEAM: __________________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925312"/>
            <a:ext cx="621792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EB4"/>
                </a:solidFill>
                <a:latin typeface="Aptos"/>
              </a:rPr>
              <a:t>Problem domain: School transportation &amp; route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EB4"/>
                </a:solidFill>
                <a:latin typeface="Aptos"/>
              </a:rPr>
              <a:t>AI-ASSISTED SCHOOL TRANSPORT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1F569"/>
                </a:solidFill>
                <a:latin typeface="Aptos"/>
              </a:rPr>
              <a:t>ROUTEWISE AI  / 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85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ABEB4"/>
                </a:solidFill>
                <a:latin typeface="Aptos"/>
              </a:rPr>
              <a:t>02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7EF"/>
                </a:solidFill>
                <a:latin typeface="Aptos"/>
              </a:rPr>
              <a:t>School routes are hard to 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78992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EB4"/>
                </a:solidFill>
                <a:latin typeface="Aptos"/>
              </a:rPr>
              <a:t>Manual planning becomes more difficult as student counts, stops, and fleet constraints grow.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93008" cy="233172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64008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F569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52928"/>
            <a:ext cx="2971800" cy="4114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EF"/>
                </a:solidFill>
                <a:latin typeface="Aptos"/>
              </a:rPr>
              <a:t>TIME-CONSUMING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01568"/>
            <a:ext cx="2971800" cy="8229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ABEB4"/>
                </a:solidFill>
                <a:latin typeface="Aptos"/>
              </a:rPr>
              <a:t>Manual route planning takes staff time and repeated adjustments.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48840"/>
            <a:ext cx="3493008" cy="233172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2395728"/>
            <a:ext cx="64008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0D2A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852928"/>
            <a:ext cx="2971800" cy="4114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EF"/>
                </a:solidFill>
                <a:latin typeface="Aptos"/>
              </a:rPr>
              <a:t>CAPACITY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401568"/>
            <a:ext cx="2971800" cy="8229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ABEB4"/>
                </a:solidFill>
                <a:latin typeface="Aptos"/>
              </a:rPr>
              <a:t>Students may be unevenly distributed across buses.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2148840"/>
            <a:ext cx="3493008" cy="233172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352" y="2395728"/>
            <a:ext cx="64008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B46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852928"/>
            <a:ext cx="2971800" cy="4114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EF"/>
                </a:solidFill>
                <a:latin typeface="Aptos"/>
              </a:rPr>
              <a:t>SAFETY + 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401568"/>
            <a:ext cx="2971800" cy="8229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ABEB4"/>
                </a:solidFill>
                <a:latin typeface="Aptos"/>
              </a:rPr>
              <a:t>Travel-time uncertainty makes pickup schedules harder to manage.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92040"/>
            <a:ext cx="10927080" cy="841248"/>
          </a:xfrm>
          <a:prstGeom prst="roundRect">
            <a:avLst/>
          </a:prstGeom>
          <a:solidFill>
            <a:srgbClr val="1B3431"/>
          </a:solidFill>
          <a:ln>
            <a:solidFill>
              <a:srgbClr val="1B3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102352"/>
            <a:ext cx="10378440" cy="3657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1F569"/>
                </a:solidFill>
                <a:latin typeface="Aptos"/>
              </a:rPr>
              <a:t>THE NEED  →  A clear, adaptable planning workflow that considers capacity, route structure, and safety buffers.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EB4"/>
                </a:solidFill>
                <a:latin typeface="Aptos"/>
              </a:rPr>
              <a:t>AI-ASSISTED SCHOOL TRANSPORT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1F569"/>
                </a:solidFill>
                <a:latin typeface="Aptos"/>
              </a:rPr>
              <a:t>ROUTEWISE AI  / 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85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ABEB4"/>
                </a:solidFill>
                <a:latin typeface="Aptos"/>
              </a:rPr>
              <a:t>03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7EF"/>
                </a:solidFill>
                <a:latin typeface="Aptos"/>
              </a:rPr>
              <a:t>Route planning, assisted by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78992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EB4"/>
                </a:solidFill>
                <a:latin typeface="Aptos"/>
              </a:rPr>
              <a:t>RouteWise AI combines a simple planning dashboard with AI-generated route suggestions.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039112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580644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EF"/>
                </a:solidFill>
                <a:latin typeface="Aptos"/>
              </a:rPr>
              <a:t>Enter student count and bus capacity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79191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606039"/>
            <a:ext cx="580644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EF"/>
                </a:solidFill>
                <a:latin typeface="Aptos"/>
              </a:rPr>
              <a:t>Choose planning priorities and route options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19272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580644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EF"/>
                </a:solidFill>
                <a:latin typeface="Aptos"/>
              </a:rPr>
              <a:t>Generate route suggestions with AI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9352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580644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EF"/>
                </a:solidFill>
                <a:latin typeface="Aptos"/>
              </a:rPr>
              <a:t>Review route cards, times, stops, and buffers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99431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79"/>
            <a:ext cx="580644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4F7EF"/>
                </a:solidFill>
                <a:latin typeface="Aptos"/>
              </a:rPr>
              <a:t>Export the plan as a CSV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74519"/>
            <a:ext cx="4069080" cy="379476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2148840"/>
            <a:ext cx="342900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1F569"/>
                </a:solidFill>
                <a:latin typeface="Aptos"/>
              </a:rPr>
              <a:t>DESIGNED AROUND</a:t>
            </a:r>
          </a:p>
        </p:txBody>
      </p:sp>
      <p:sp>
        <p:nvSpPr>
          <p:cNvPr id="18" name="Oval 17"/>
          <p:cNvSpPr/>
          <p:nvPr/>
        </p:nvSpPr>
        <p:spPr>
          <a:xfrm>
            <a:off x="7635240" y="2734056"/>
            <a:ext cx="146304" cy="14630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2697480"/>
            <a:ext cx="306324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EF"/>
                </a:solidFill>
                <a:latin typeface="Aptos"/>
              </a:rPr>
              <a:t>Capacity-aware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971800"/>
            <a:ext cx="306324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Keep student loads in view</a:t>
            </a:r>
          </a:p>
        </p:txBody>
      </p:sp>
      <p:sp>
        <p:nvSpPr>
          <p:cNvPr id="21" name="Oval 20"/>
          <p:cNvSpPr/>
          <p:nvPr/>
        </p:nvSpPr>
        <p:spPr>
          <a:xfrm>
            <a:off x="7635240" y="3392424"/>
            <a:ext cx="146304" cy="14630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355848"/>
            <a:ext cx="306324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EF"/>
                </a:solidFill>
                <a:latin typeface="Aptos"/>
              </a:rPr>
              <a:t>Route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630168"/>
            <a:ext cx="306324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See stops and route paths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4050792"/>
            <a:ext cx="146304" cy="146304"/>
          </a:xfrm>
          <a:prstGeom prst="ellipse">
            <a:avLst/>
          </a:prstGeom>
          <a:solidFill>
            <a:srgbClr val="FFB464"/>
          </a:solidFill>
          <a:ln>
            <a:solidFill>
              <a:srgbClr val="FF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60" y="4014216"/>
            <a:ext cx="306324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EF"/>
                </a:solidFill>
                <a:latin typeface="Aptos"/>
              </a:rPr>
              <a:t>Safety buffers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288536"/>
            <a:ext cx="306324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Make schedule slack visible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4709160"/>
            <a:ext cx="146304" cy="14630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4672584"/>
            <a:ext cx="306324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7EF"/>
                </a:solidFill>
                <a:latin typeface="Aptos"/>
              </a:rPr>
              <a:t>Exportable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946904"/>
            <a:ext cx="306324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Take the route data with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EB4"/>
                </a:solidFill>
                <a:latin typeface="Aptos"/>
              </a:rPr>
              <a:t>AI-ASSISTED SCHOOL TRANSPORT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1F569"/>
                </a:solidFill>
                <a:latin typeface="Aptos"/>
              </a:rPr>
              <a:t>ROUTEWISE AI  / 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85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ABEB4"/>
                </a:solidFill>
                <a:latin typeface="Aptos"/>
              </a:rPr>
              <a:t>04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7EF"/>
                </a:solidFill>
                <a:latin typeface="Aptos"/>
              </a:rPr>
              <a:t>From planning inputs to a route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78992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EB4"/>
                </a:solidFill>
                <a:latin typeface="Aptos"/>
              </a:rPr>
              <a:t>A straightforward user journey keeps the workflow easy to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2395728" cy="164592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2029968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1F569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63240"/>
            <a:ext cx="2029968" cy="6217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Students • bus capacity
priority • preferences</a:t>
            </a:r>
          </a:p>
        </p:txBody>
      </p:sp>
      <p:sp>
        <p:nvSpPr>
          <p:cNvPr id="9" name="Chevron 8"/>
          <p:cNvSpPr/>
          <p:nvPr/>
        </p:nvSpPr>
        <p:spPr>
          <a:xfrm>
            <a:off x="3145536" y="2852928"/>
            <a:ext cx="310896" cy="457200"/>
          </a:xfrm>
          <a:prstGeom prst="chevron">
            <a:avLst/>
          </a:prstGeom>
          <a:solidFill>
            <a:srgbClr val="39534C"/>
          </a:solidFill>
          <a:ln>
            <a:solidFill>
              <a:srgbClr val="39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38728" y="2331720"/>
            <a:ext cx="2395728" cy="164592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578608"/>
            <a:ext cx="2029968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0D2AF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3063240"/>
            <a:ext cx="2029968" cy="6217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Validate and package
planning details</a:t>
            </a:r>
          </a:p>
        </p:txBody>
      </p:sp>
      <p:sp>
        <p:nvSpPr>
          <p:cNvPr id="13" name="Chevron 12"/>
          <p:cNvSpPr/>
          <p:nvPr/>
        </p:nvSpPr>
        <p:spPr>
          <a:xfrm>
            <a:off x="6025896" y="2852928"/>
            <a:ext cx="310896" cy="457200"/>
          </a:xfrm>
          <a:prstGeom prst="chevron">
            <a:avLst/>
          </a:prstGeom>
          <a:solidFill>
            <a:srgbClr val="39534C"/>
          </a:solidFill>
          <a:ln>
            <a:solidFill>
              <a:srgbClr val="39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19088" y="2331720"/>
            <a:ext cx="2395728" cy="164592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2578608"/>
            <a:ext cx="2029968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0D2AF"/>
                </a:solidFill>
                <a:latin typeface="Aptos"/>
              </a:rPr>
              <a:t>AI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063240"/>
            <a:ext cx="2029968" cy="6217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Generate structured
route suggestions</a:t>
            </a:r>
          </a:p>
        </p:txBody>
      </p:sp>
      <p:sp>
        <p:nvSpPr>
          <p:cNvPr id="17" name="Chevron 16"/>
          <p:cNvSpPr/>
          <p:nvPr/>
        </p:nvSpPr>
        <p:spPr>
          <a:xfrm>
            <a:off x="8906256" y="2852928"/>
            <a:ext cx="310896" cy="457200"/>
          </a:xfrm>
          <a:prstGeom prst="chevron">
            <a:avLst/>
          </a:prstGeom>
          <a:solidFill>
            <a:srgbClr val="39534C"/>
          </a:solidFill>
          <a:ln>
            <a:solidFill>
              <a:srgbClr val="395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99448" y="2331720"/>
            <a:ext cx="2395728" cy="164592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2578608"/>
            <a:ext cx="2029968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C1F569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3063240"/>
            <a:ext cx="2029968" cy="6217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Route cards • summary
visualization • 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927080" cy="868680"/>
          </a:xfrm>
          <a:prstGeom prst="roundRect">
            <a:avLst/>
          </a:prstGeom>
          <a:solidFill>
            <a:srgbClr val="1B3431"/>
          </a:solidFill>
          <a:ln>
            <a:solidFill>
              <a:srgbClr val="1B3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855464"/>
            <a:ext cx="10424160" cy="3657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4F7EF"/>
                </a:solidFill>
                <a:latin typeface="Aptos"/>
              </a:rPr>
              <a:t>USER JOURNEY  •  Set inputs → Optimize with AI → Review routes → Export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EB4"/>
                </a:solidFill>
                <a:latin typeface="Aptos"/>
              </a:rPr>
              <a:t>AI-ASSISTED SCHOOL TRANSPORT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1F569"/>
                </a:solidFill>
                <a:latin typeface="Aptos"/>
              </a:rPr>
              <a:t>ROUTEWISE AI  / 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85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ABEB4"/>
                </a:solidFill>
                <a:latin typeface="Aptos"/>
              </a:rPr>
              <a:t>05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7EF"/>
                </a:solidFill>
                <a:latin typeface="Aptos"/>
              </a:rPr>
              <a:t>A lightweight web app + AI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78992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EB4"/>
                </a:solidFill>
                <a:latin typeface="Aptos"/>
              </a:rPr>
              <a:t>Built for a fast prototype; production routing would add map data and formal optimization.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5257800" cy="361188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240280"/>
            <a:ext cx="466344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1F569"/>
                </a:solidFill>
                <a:latin typeface="Aptos"/>
              </a:rPr>
              <a:t>TECH STACK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816352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Frontend: HTML, CSS, JavaScript, SVG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383280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310128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Backend: JavaScript API function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950208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877056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AI: Hatchable AI text-generation service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517136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443983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Platform: Hatchable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965960"/>
            <a:ext cx="5303520" cy="361188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2240280"/>
            <a:ext cx="457200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0D2AF"/>
                </a:solidFill>
                <a:latin typeface="Aptos"/>
              </a:rPr>
              <a:t>ALGORITHM / METHOD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816352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743200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AI prompt generates structured route suggestions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383280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3310128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Capacity and planning preferences guide output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950208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3877056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Fallback route logic supports service failures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517136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443983"/>
            <a:ext cx="43434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4F7EF"/>
                </a:solidFill>
                <a:latin typeface="Aptos"/>
              </a:rPr>
              <a:t>Route cards and summaries present the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70448"/>
            <a:ext cx="1078992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AABEB4"/>
                </a:solidFill>
                <a:latin typeface="Aptos"/>
              </a:rPr>
              <a:t>COMPLEXITY NOTE  •  No formal asymptotic complexity is claimed for the AI step; runtime depends on input size, model response, and network.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EB4"/>
                </a:solidFill>
                <a:latin typeface="Aptos"/>
              </a:rPr>
              <a:t>AI-ASSISTED SCHOOL TRANSPORT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1F569"/>
                </a:solidFill>
                <a:latin typeface="Aptos"/>
              </a:rPr>
              <a:t>ROUTEWISE AI  / 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6858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ABEB4"/>
                </a:solidFill>
                <a:latin typeface="Aptos"/>
              </a:rPr>
              <a:t>06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6692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4F7EF"/>
                </a:solidFill>
                <a:latin typeface="Aptos"/>
              </a:rPr>
              <a:t>A route plan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78992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EB4"/>
                </a:solidFill>
                <a:latin typeface="Aptos"/>
              </a:rPr>
              <a:t>Illustrative demo data from the current prototype — not live GPS or verified road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578608" cy="114300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2194560" cy="4114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C1F569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42032"/>
            <a:ext cx="219456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ABEB4"/>
                </a:solidFill>
                <a:latin typeface="Aptos"/>
              </a:rPr>
              <a:t>SAMPLE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1874519"/>
            <a:ext cx="2578608" cy="114300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21608" y="2057400"/>
            <a:ext cx="2194560" cy="4114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50D2AF"/>
                </a:solidFill>
                <a:latin typeface="Aptos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542032"/>
            <a:ext cx="219456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ABEB4"/>
                </a:solidFill>
                <a:latin typeface="Aptos"/>
              </a:rPr>
              <a:t>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1874519"/>
            <a:ext cx="2578608" cy="114300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2057400"/>
            <a:ext cx="2194560" cy="4114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B464"/>
                </a:solidFill>
                <a:latin typeface="Aptos"/>
              </a:rPr>
              <a:t>5–7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542032"/>
            <a:ext cx="219456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ABEB4"/>
                </a:solidFill>
                <a:latin typeface="Aptos"/>
              </a:rPr>
              <a:t>STOPS / ROUTE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9448" y="1874519"/>
            <a:ext cx="2578608" cy="114300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82328" y="2057400"/>
            <a:ext cx="2194560" cy="41148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C1F569"/>
                </a:solidFill>
                <a:latin typeface="Aptos"/>
              </a:rPr>
              <a:t>28–34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542032"/>
            <a:ext cx="219456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AABEB4"/>
                </a:solidFill>
                <a:latin typeface="Aptos"/>
              </a:rPr>
              <a:t>MIN EST.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37560"/>
            <a:ext cx="6675120" cy="214884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547872"/>
            <a:ext cx="6217920" cy="274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1F569"/>
                </a:solidFill>
                <a:latin typeface="Aptos"/>
              </a:rPr>
              <a:t>SAMPLE ROUTE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64592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EF"/>
                </a:solidFill>
                <a:latin typeface="Aptos"/>
              </a:rPr>
              <a:t>North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977639"/>
            <a:ext cx="146304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22 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977639"/>
            <a:ext cx="10515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6 stops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977639"/>
            <a:ext cx="12801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28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06824"/>
            <a:ext cx="164592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EF"/>
                </a:solidFill>
                <a:latin typeface="Aptos"/>
              </a:rPr>
              <a:t>East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306824"/>
            <a:ext cx="146304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21 students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306824"/>
            <a:ext cx="10515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7 stops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4306824"/>
            <a:ext cx="12801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34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36007"/>
            <a:ext cx="164592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EF"/>
                </a:solidFill>
                <a:latin typeface="Aptos"/>
              </a:rPr>
              <a:t>South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636007"/>
            <a:ext cx="146304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20 students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636007"/>
            <a:ext cx="10515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6 stops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636007"/>
            <a:ext cx="12801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31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65192"/>
            <a:ext cx="164592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7EF"/>
                </a:solidFill>
                <a:latin typeface="Aptos"/>
              </a:rPr>
              <a:t>West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965192"/>
            <a:ext cx="146304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21 students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965192"/>
            <a:ext cx="10515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5 stops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4965192"/>
            <a:ext cx="1280160" cy="237744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30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337560"/>
            <a:ext cx="3886200" cy="2148840"/>
          </a:xfrm>
          <a:prstGeom prst="roundRect">
            <a:avLst/>
          </a:prstGeom>
          <a:solidFill>
            <a:srgbClr val="1B3431"/>
          </a:solidFill>
          <a:ln>
            <a:solidFill>
              <a:srgbClr val="1B3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36992" y="3611880"/>
            <a:ext cx="3246120" cy="274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0D2AF"/>
                </a:solidFill>
                <a:latin typeface="Aptos"/>
              </a:rPr>
              <a:t>PRACTICAL BENEFITS</a:t>
            </a:r>
          </a:p>
        </p:txBody>
      </p:sp>
      <p:sp>
        <p:nvSpPr>
          <p:cNvPr id="38" name="Oval 37"/>
          <p:cNvSpPr/>
          <p:nvPr/>
        </p:nvSpPr>
        <p:spPr>
          <a:xfrm>
            <a:off x="7936992" y="4142232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65592" y="4069080"/>
            <a:ext cx="29718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Faster planning workflow</a:t>
            </a:r>
          </a:p>
        </p:txBody>
      </p:sp>
      <p:sp>
        <p:nvSpPr>
          <p:cNvPr id="40" name="Oval 39"/>
          <p:cNvSpPr/>
          <p:nvPr/>
        </p:nvSpPr>
        <p:spPr>
          <a:xfrm>
            <a:off x="7936992" y="4480560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65592" y="4407408"/>
            <a:ext cx="29718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Clearer capacity overview</a:t>
            </a:r>
          </a:p>
        </p:txBody>
      </p:sp>
      <p:sp>
        <p:nvSpPr>
          <p:cNvPr id="42" name="Oval 41"/>
          <p:cNvSpPr/>
          <p:nvPr/>
        </p:nvSpPr>
        <p:spPr>
          <a:xfrm>
            <a:off x="7936992" y="4818888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65592" y="4745736"/>
            <a:ext cx="29718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Route details in one place</a:t>
            </a:r>
          </a:p>
        </p:txBody>
      </p:sp>
      <p:sp>
        <p:nvSpPr>
          <p:cNvPr id="44" name="Oval 43"/>
          <p:cNvSpPr/>
          <p:nvPr/>
        </p:nvSpPr>
        <p:spPr>
          <a:xfrm>
            <a:off x="7936992" y="5157216"/>
            <a:ext cx="100584" cy="100584"/>
          </a:xfrm>
          <a:prstGeom prst="ellipse">
            <a:avLst/>
          </a:prstGeom>
          <a:solidFill>
            <a:srgbClr val="50D2AF"/>
          </a:solidFill>
          <a:ln>
            <a:solidFill>
              <a:srgbClr val="5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65592" y="5084064"/>
            <a:ext cx="297180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CSV export for follow-up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EB4"/>
                </a:solidFill>
                <a:latin typeface="Aptos"/>
              </a:rPr>
              <a:t>AI-ASSISTED SCHOOL TRANSPORT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5303520" cy="25603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1F569"/>
                </a:solidFill>
                <a:latin typeface="Aptos"/>
              </a:rPr>
              <a:t>ROUTEWISE AI  / 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51560"/>
            <a:ext cx="6766560" cy="82296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EF"/>
                </a:solidFill>
                <a:latin typeface="Aptos"/>
              </a:rPr>
              <a:t>Plan smarter.
Move students safely.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97480"/>
            <a:ext cx="5669280" cy="274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0D2AF"/>
                </a:solidFill>
                <a:latin typeface="Aptos"/>
              </a:rPr>
              <a:t>CURRENT ACHIEVEMENT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063240"/>
            <a:ext cx="5669280" cy="65836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4F7EF"/>
                </a:solidFill>
                <a:latin typeface="Aptos"/>
              </a:rPr>
              <a:t>A deployed interactive prototype with AI-assisted route suggestions, route summaries, visualization, and CSV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069080"/>
            <a:ext cx="5669280" cy="27432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1F569"/>
                </a:solidFill>
                <a:latin typeface="Aptos"/>
              </a:rP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4507992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562356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Real maps, road distances, and traffic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892040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818888"/>
            <a:ext cx="562356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Live GPS, driver and parent views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5276088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202936"/>
            <a:ext cx="562356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Student database and notifications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660136"/>
            <a:ext cx="100584" cy="100584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586983"/>
            <a:ext cx="562356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4F7EF"/>
                </a:solidFill>
                <a:latin typeface="Aptos"/>
              </a:rPr>
              <a:t>Formal VRP/CVRP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685800"/>
            <a:ext cx="4206240" cy="5440680"/>
          </a:xfrm>
          <a:prstGeom prst="roundRect">
            <a:avLst/>
          </a:prstGeom>
          <a:solidFill>
            <a:srgbClr val="142828"/>
          </a:solidFill>
          <a:ln>
            <a:solidFill>
              <a:srgbClr val="1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1097280"/>
            <a:ext cx="3474720" cy="32004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1F569"/>
                </a:solidFill>
                <a:latin typeface="Aptos"/>
              </a:rPr>
              <a:t>FUTURE VISION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2788920" cy="1234440"/>
          </a:xfrm>
          <a:prstGeom prst="roundRect">
            <a:avLst/>
          </a:prstGeom>
          <a:solidFill>
            <a:srgbClr val="1B3431"/>
          </a:solidFill>
          <a:ln>
            <a:solidFill>
              <a:srgbClr val="1B34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2331720" cy="38404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4F7EF"/>
                </a:solidFill>
                <a:latin typeface="Aptos"/>
              </a:rPr>
              <a:t>SCHOOL BUS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0" y="2880360"/>
            <a:ext cx="384048" cy="384048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95560" y="2880360"/>
            <a:ext cx="384048" cy="384048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818120" y="3977639"/>
            <a:ext cx="502920" cy="0"/>
          </a:xfrm>
          <a:prstGeom prst="line">
            <a:avLst/>
          </a:prstGeom>
          <a:ln w="31750">
            <a:solidFill>
              <a:srgbClr val="50D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67928" y="3977639"/>
            <a:ext cx="502920" cy="0"/>
          </a:xfrm>
          <a:prstGeom prst="line">
            <a:avLst/>
          </a:prstGeom>
          <a:ln w="31750">
            <a:solidFill>
              <a:srgbClr val="50D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17736" y="3977639"/>
            <a:ext cx="502920" cy="0"/>
          </a:xfrm>
          <a:prstGeom prst="line">
            <a:avLst/>
          </a:prstGeom>
          <a:ln w="31750">
            <a:solidFill>
              <a:srgbClr val="50D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067544" y="3977639"/>
            <a:ext cx="502920" cy="0"/>
          </a:xfrm>
          <a:prstGeom prst="line">
            <a:avLst/>
          </a:prstGeom>
          <a:ln w="31750">
            <a:solidFill>
              <a:srgbClr val="50D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754112" y="3913632"/>
            <a:ext cx="128016" cy="128016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19" y="3913632"/>
            <a:ext cx="128016" cy="128016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53728" y="3913632"/>
            <a:ext cx="128016" cy="128016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03536" y="3913632"/>
            <a:ext cx="128016" cy="128016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53344" y="3913632"/>
            <a:ext cx="128016" cy="128016"/>
          </a:xfrm>
          <a:prstGeom prst="ellipse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26679" y="4434840"/>
            <a:ext cx="3429000" cy="6858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AABEB4"/>
                </a:solidFill>
                <a:latin typeface="Aptos"/>
              </a:rPr>
              <a:t>From a planning prototype to a connected school transport platform.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5349240"/>
            <a:ext cx="3017520" cy="502920"/>
          </a:xfrm>
          <a:prstGeom prst="roundRect">
            <a:avLst/>
          </a:prstGeom>
          <a:solidFill>
            <a:srgbClr val="C1F569"/>
          </a:solidFill>
          <a:ln>
            <a:solidFill>
              <a:srgbClr val="C1F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5458968"/>
            <a:ext cx="2743200" cy="246888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B1819"/>
                </a:solidFill>
                <a:latin typeface="Aptos"/>
              </a:rPr>
              <a:t>THANK YOU  •  Q&amp;A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6263640"/>
            <a:ext cx="5943600" cy="228600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ABEB4"/>
                </a:solidFill>
                <a:latin typeface="Aptos"/>
              </a:rPr>
              <a:t>Demo: https://ai-school-bus-route.hatchable.site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537960"/>
            <a:ext cx="8229600" cy="164592"/>
          </a:xfrm>
          <a:prstGeom prst="rect">
            <a:avLst/>
          </a:prstGeom>
          <a:noFill/>
        </p:spPr>
        <p:txBody>
          <a:bodyPr wrap="non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ABEB4"/>
                </a:solidFill>
                <a:latin typeface="Aptos"/>
              </a:rPr>
              <a:t>AI-ASSISTED SCHOOL TRANSPORT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614</Words>
  <Application>Microsoft Office PowerPoint</Application>
  <PresentationFormat>Widescreen</PresentationFormat>
  <Paragraphs>121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Rajitha Dell</cp:lastModifiedBy>
  <cp:revision>1</cp:revision>
  <dcterms:created xsi:type="dcterms:W3CDTF">2013-01-27T09:14:16Z</dcterms:created>
  <dcterms:modified xsi:type="dcterms:W3CDTF">2026-10-03T06:04:19Z</dcterms:modified>
  <cp:category/>
</cp:coreProperties>
</file>